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052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of the SPIT Booklet for At-Home Salivary Hormone Collection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3108960"/>
            <a:ext cx="1828800" cy="54864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85800" y="3383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6624 - Project 0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</a:t>
            </a:r>
            <a:r>
              <a:rPr lang="en-US" altLang="zh-CN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ebecca Du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[02/04/2026]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Questions &amp; Statistical Hypotheses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EBF5F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137160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5276"/>
                </a:solidFill>
              </a:rPr>
              <a:t>Q1: Agreement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Do Booklet times agree with MEMs times? Is there systematic bias?</a:t>
            </a:r>
            <a:endParaRPr lang="en-US" dirty="0"/>
          </a:p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</a:rPr>
              <a:t>H₀: No systematic bias; H₁: Bias exists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371600"/>
          </a:xfrm>
          <a:prstGeom prst="rect">
            <a:avLst/>
          </a:prstGeom>
          <a:solidFill>
            <a:srgbClr val="EBF5F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73152" cy="137160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5276"/>
                </a:solidFill>
              </a:rPr>
              <a:t>Q2: Adherence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Do subjects adhere to protocol timing windows (+30 min, +600 min)?</a:t>
            </a:r>
            <a:endParaRPr lang="en-US" dirty="0"/>
          </a:p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</a:rPr>
              <a:t>Descriptive: % within ±7.5 and ±15 min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1463040"/>
          </a:xfrm>
          <a:prstGeom prst="rect">
            <a:avLst/>
          </a:prstGeom>
          <a:solidFill>
            <a:srgbClr val="EBF5F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73152" cy="14630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5276"/>
                </a:solidFill>
              </a:rPr>
              <a:t>Q3: Diurnal Hormone Patterns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1C2833"/>
                </a:solidFill>
              </a:rPr>
              <a:t>Do cortisol and DHEA exhibit expected patterns: initial rise (0–30 min) then gradual decline?</a:t>
            </a:r>
            <a:endParaRPr lang="en-US" sz="20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H₀: (a) No change waking→30 min; (b) No decline after 30 min   |   H₁: Significant changes exist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level: α = 0.05 for all hypothesis tests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Methods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73152" cy="10058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5276"/>
                </a:solidFill>
              </a:rPr>
              <a:t>Q1: Agreement Analysis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Linear mixed effects model: Booklet time ~ MEMs time + (1|Subject)</a:t>
            </a:r>
            <a:endParaRPr lang="en-US" dirty="0"/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Perfect agreement: slope = 1, intercept = 0  •  Systematic bias assessed via intercept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73152" cy="10058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5276"/>
                </a:solidFill>
              </a:rPr>
              <a:t>Q2: Adherence Assessment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Deviation from target times calculated using MEMs time since waking</a:t>
            </a:r>
            <a:endParaRPr lang="en-US" dirty="0"/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Reported: % within ±7.5 min and ±15 min windows with 95% confidence intervals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73152" cy="14630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5276"/>
                </a:solidFill>
              </a:rPr>
              <a:t>Q3: Diurnal Hormone Patterns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Piecewise linear mixed effects model with knot at 30 minutes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Model: log(Hormone) ~ Time1 + Time2 + (1|SubjectID)</a:t>
            </a:r>
            <a:endParaRPr lang="en-US" dirty="0"/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Time1 = min(Time, 30) — awakening response slope</a:t>
            </a:r>
            <a:endParaRPr lang="en-US" dirty="0"/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Time2 = max(Time − 30, 0) — post-30 min decline slope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healthy subjects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samples/day × 3 days = 372 observations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waking, +30 min, before lunch, +600 min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SPIT booklet stored in MEMs bottle cap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8229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Cortisol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5.95 (6.95) nmol/L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 (1.03) nmol/L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&amp; Exclusions</a:t>
            </a:r>
            <a:endParaRPr lang="en-US" sz="16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1371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Exclusions (Q3)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MEMs clock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(16.4%)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Booklet clock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(9.4%)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Cortisol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(1.3%)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(&gt;80 nmol/L lab error)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(1.3%)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(detection limit); 1 subject excluded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Agreement (n = 285)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0.995 (95% CI: 0.981–1.009)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0.471 for test of slope ≠ 1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proportional bias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= −6.5 min (95% CI: −12.2, −0.8)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0.026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Subjects recorded ~6.5 min earlier than MEMs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Adherence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3931920" cy="822960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±7.5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adherence for +30 min; poorer for +600 min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Diurnal Patterns (Log-transformed hormones)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868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0–30 min slope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Post-30 min slope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Cortisol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+0.6%/min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−0.22%/min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−2.5%/min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−0.15%/min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EBF5FB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Text 8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showed no significant awakening response but significant post-30 min decline. DHEA showed continuous decline (not expected rise-then-fall pattern).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&amp; Limitations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280160"/>
          </a:xfrm>
          <a:prstGeom prst="rect">
            <a:avLst/>
          </a:prstGeom>
          <a:solidFill>
            <a:srgbClr val="EBF5FB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7A589"/>
                </a:solidFill>
              </a:rPr>
              <a:t>Q1: Agreement</a:t>
            </a:r>
            <a:endParaRPr lang="en-US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Strong agreement between methods; small ~6.5 min systematic bias is modest relative to sampling range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1280160"/>
          </a:xfrm>
          <a:prstGeom prst="rect">
            <a:avLst/>
          </a:prstGeom>
          <a:solidFill>
            <a:srgbClr val="EBF5FB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337560" y="1371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980B9"/>
                </a:solidFill>
              </a:rPr>
              <a:t>Q2: Adherence</a:t>
            </a:r>
            <a:endParaRPr lang="en-US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Good for +30 min (87%); poorer for +600 min (55%)—later samples more challenging at home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1280160"/>
          </a:xfrm>
          <a:prstGeom prst="rect">
            <a:avLst/>
          </a:prstGeom>
          <a:solidFill>
            <a:srgbClr val="EBF5FB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126480" y="1371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5276"/>
                </a:solidFill>
              </a:rPr>
              <a:t>Q3: Patterns</a:t>
            </a:r>
            <a:endParaRPr lang="en-US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SPIT captured cortisol decline but not awakening response; DHEA showed continuous decline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plots showed residual curvature—piecewise linear model may not fully capture complexity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knot at 30 min may not capture individual variation in awakening response timing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plot for DHEA showed deviation from normality in lower tail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exclusions and detection limit handling may affect generalizability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SPIT device shows promise for at-home collection. Consider reminder systems for later samples. Point estimates provided for comparison with standard methods.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692</Words>
  <Application>Microsoft Office PowerPoint</Application>
  <PresentationFormat>On-screen Show (16:9)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the SPIT Booklet for At-Home Salivary Hormone Collection</dc:title>
  <dc:subject>PptxGenJS Presentation</dc:subject>
  <dc:creator>BIOS 6624</dc:creator>
  <cp:lastModifiedBy>Du, Qingyang</cp:lastModifiedBy>
  <cp:revision>2</cp:revision>
  <dcterms:created xsi:type="dcterms:W3CDTF">2026-02-04T01:09:09Z</dcterms:created>
  <dcterms:modified xsi:type="dcterms:W3CDTF">2026-02-04T01:22:32Z</dcterms:modified>
</cp:coreProperties>
</file>